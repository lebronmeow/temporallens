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D11"/>
          </a:solidFill>
          <a:ln>
            <a:solidFill>
              <a:srgbClr val="0D0D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71717A"/>
                </a:solidFill>
                <a:latin typeface="Calibri"/>
              </a:defRPr>
            </a:pPr>
            <a:r>
              <a:t>TemporalLens AI — College Mini Project Presentation | Developer: Lebron Pereira (@Lebronmeow)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400800"/>
            <a:ext cx="9144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00">
                <a:solidFill>
                  <a:srgbClr val="F59E0B"/>
                </a:solidFill>
                <a:latin typeface="Consolas"/>
              </a:defRPr>
            </a:pPr>
            <a: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6984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F59E0B"/>
                </a:solidFill>
                <a:latin typeface="Consolas"/>
              </a:defRPr>
            </a:pPr>
            <a:r>
              <a:t>COLLEGE MINI PROJECT DEFENSE • COMPUTER SCIENCE &amp; ENGINEERING</a:t>
            </a:r>
          </a:p>
          <a:p>
            <a:pPr>
              <a:spcAft>
                <a:spcPts val="400"/>
              </a:spcAft>
              <a:defRPr sz="4800" b="1">
                <a:solidFill>
                  <a:srgbClr val="F4F4F5"/>
                </a:solidFill>
                <a:latin typeface="Calibri"/>
              </a:defRPr>
            </a:pPr>
            <a:r>
              <a:t>TemporalLens AI</a:t>
            </a:r>
          </a:p>
          <a:p>
            <a:pPr>
              <a:spcAft>
                <a:spcPts val="1600"/>
              </a:spcAft>
              <a:defRPr sz="2000">
                <a:solidFill>
                  <a:srgbClr val="A1A1AA"/>
                </a:solidFill>
                <a:latin typeface="Calibri"/>
              </a:defRPr>
            </a:pPr>
            <a:r>
              <a:t>Continuous Video Temporal Grounding &amp; Moment Retrieval Workstation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297680"/>
            <a:ext cx="5120640" cy="1554480"/>
          </a:xfrm>
          <a:prstGeom prst="roundRect">
            <a:avLst/>
          </a:prstGeom>
          <a:solidFill>
            <a:srgbClr val="141419"/>
          </a:solidFill>
          <a:ln w="12700">
            <a:solidFill>
              <a:srgbClr val="272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4480560"/>
            <a:ext cx="4718304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900" b="1">
                <a:solidFill>
                  <a:srgbClr val="F59E0B"/>
                </a:solidFill>
                <a:latin typeface="Consolas"/>
              </a:defRPr>
            </a:pPr>
            <a:r>
              <a:t>STUDENT DETAILS</a:t>
            </a:r>
          </a:p>
          <a:p>
            <a:pPr>
              <a:spcAft>
                <a:spcPts val="400"/>
              </a:spcAft>
              <a:defRPr sz="1300" b="1">
                <a:solidFill>
                  <a:srgbClr val="F4F4F5"/>
                </a:solidFill>
                <a:latin typeface="Calibri"/>
              </a:defRPr>
            </a:pPr>
            <a:r>
              <a:t>Project Candidate</a:t>
            </a:r>
          </a:p>
          <a:p>
            <a:pPr>
              <a:lnSpc>
                <a:spcPct val="125000"/>
              </a:lnSpc>
              <a:defRPr sz="1050">
                <a:solidFill>
                  <a:srgbClr val="A1A1AA"/>
                </a:solidFill>
                <a:latin typeface="Calibri"/>
              </a:defRPr>
            </a:pPr>
            <a:r>
              <a:t>Developer: Lebron Pereira</a:t>
            </a:r>
            <a:br/>
            <a:r>
              <a:t>GitHub: @Lebronmeow</a:t>
            </a:r>
            <a:br/>
            <a:r>
              <a:t>Target System: Multimodal Vision-Language Reasoning</a:t>
            </a:r>
            <a:br/>
            <a:r>
              <a:t>Academic Year: 2026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4297680"/>
            <a:ext cx="5303520" cy="1554480"/>
          </a:xfrm>
          <a:prstGeom prst="roundRect">
            <a:avLst/>
          </a:prstGeom>
          <a:solidFill>
            <a:srgbClr val="141419"/>
          </a:solidFill>
          <a:ln w="12700">
            <a:solidFill>
              <a:srgbClr val="272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27648" y="4480560"/>
            <a:ext cx="4901184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900" b="1">
                <a:solidFill>
                  <a:srgbClr val="F59E0B"/>
                </a:solidFill>
                <a:latin typeface="Consolas"/>
              </a:defRPr>
            </a:pPr>
            <a:r>
              <a:t>FRAMEWORK &amp; ACCELERATION</a:t>
            </a:r>
          </a:p>
          <a:p>
            <a:pPr>
              <a:spcAft>
                <a:spcPts val="400"/>
              </a:spcAft>
              <a:defRPr sz="1300" b="1">
                <a:solidFill>
                  <a:srgbClr val="F4F4F5"/>
                </a:solidFill>
                <a:latin typeface="Calibri"/>
              </a:defRPr>
            </a:pPr>
            <a:r>
              <a:t>Technical Specification</a:t>
            </a:r>
          </a:p>
          <a:p>
            <a:pPr>
              <a:lnSpc>
                <a:spcPct val="125000"/>
              </a:lnSpc>
              <a:defRPr sz="1050">
                <a:solidFill>
                  <a:srgbClr val="A1A1AA"/>
                </a:solidFill>
                <a:latin typeface="Calibri"/>
              </a:defRPr>
            </a:pPr>
            <a:r>
              <a:t>Core Engine: PyTorch 2.6.0 + CUDA 12.4 Acceleration</a:t>
            </a:r>
            <a:br/>
            <a:r>
              <a:t>Host Hardware: NVIDIA GeForce RTX 3060 (12GB VRAM)</a:t>
            </a:r>
            <a:br/>
            <a:r>
              <a:t>Optimization: Temporal Wasserstein W1 Continuous Reward (GRPO)</a:t>
            </a:r>
            <a:br/>
            <a:r>
              <a:t>Interface: editorial taste-skill compliant NLE Studio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D11"/>
          </a:solidFill>
          <a:ln>
            <a:solidFill>
              <a:srgbClr val="0D0D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F59E0B"/>
                </a:solidFill>
                <a:latin typeface="Consolas"/>
              </a:defRPr>
            </a:pPr>
            <a:r>
              <a:t>BACKGROUND &amp; PROBLEM FORMULATION</a:t>
            </a:r>
          </a:p>
          <a:p>
            <a:pPr>
              <a:defRPr sz="2300" b="1">
                <a:solidFill>
                  <a:srgbClr val="F4F4F5"/>
                </a:solidFill>
                <a:latin typeface="Calibri"/>
              </a:defRPr>
            </a:pPr>
            <a:r>
              <a:t>The Challenge of Video Temporal Grounding (VTG)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71717A"/>
                </a:solidFill>
                <a:latin typeface="Calibri"/>
              </a:defRPr>
            </a:pPr>
            <a:r>
              <a:t>TemporalLens AI — College Mini Project Presentation | Developer: Lebron Pereira (@Lebronmeow)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400800"/>
            <a:ext cx="9144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00">
                <a:solidFill>
                  <a:srgbClr val="F59E0B"/>
                </a:solidFill>
                <a:latin typeface="Consolas"/>
              </a:defRPr>
            </a:pPr>
            <a:r>
              <a:t>02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291840" cy="4389120"/>
          </a:xfrm>
          <a:prstGeom prst="roundRect">
            <a:avLst/>
          </a:prstGeom>
          <a:solidFill>
            <a:srgbClr val="141419"/>
          </a:solidFill>
          <a:ln w="12700">
            <a:solidFill>
              <a:srgbClr val="272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828800"/>
            <a:ext cx="2889504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900" b="1">
                <a:solidFill>
                  <a:srgbClr val="F59E0B"/>
                </a:solidFill>
                <a:latin typeface="Consolas"/>
              </a:defRPr>
            </a:pPr>
            <a:r>
              <a:t>THE PROBLEM</a:t>
            </a:r>
          </a:p>
          <a:p>
            <a:pPr>
              <a:spcAft>
                <a:spcPts val="400"/>
              </a:spcAft>
              <a:defRPr sz="1300" b="1">
                <a:solidFill>
                  <a:srgbClr val="F4F4F5"/>
                </a:solidFill>
                <a:latin typeface="Calibri"/>
              </a:defRPr>
            </a:pPr>
            <a:r>
              <a:t>Untrimmed Video Explosion</a:t>
            </a:r>
          </a:p>
          <a:p>
            <a:pPr>
              <a:lnSpc>
                <a:spcPct val="125000"/>
              </a:lnSpc>
              <a:defRPr sz="1050">
                <a:solidFill>
                  <a:srgbClr val="A1A1AA"/>
                </a:solidFill>
                <a:latin typeface="Calibri"/>
              </a:defRPr>
            </a:pPr>
            <a:r>
              <a:t>Video footage represents over 82% of internet bandwidth. Untrimmed recordings—from surveillance feeds to educational lectures and surgical operations—lack semantic temporal indices.</a:t>
            </a:r>
            <a:br/>
            <a:br/>
            <a:r>
              <a:t>Searching for specific physical actions requires tedious manual scrubbing across hours of footage, causing human fatigue and severe operational latency.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1645920"/>
            <a:ext cx="3474720" cy="4389120"/>
          </a:xfrm>
          <a:prstGeom prst="roundRect">
            <a:avLst/>
          </a:prstGeom>
          <a:solidFill>
            <a:srgbClr val="141419"/>
          </a:solidFill>
          <a:ln w="12700">
            <a:solidFill>
              <a:srgbClr val="272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98848" y="1828800"/>
            <a:ext cx="3072384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900" b="1">
                <a:solidFill>
                  <a:srgbClr val="F59E0B"/>
                </a:solidFill>
                <a:latin typeface="Consolas"/>
              </a:defRPr>
            </a:pPr>
            <a:r>
              <a:t>TASK DEFINITION</a:t>
            </a:r>
          </a:p>
          <a:p>
            <a:pPr>
              <a:spcAft>
                <a:spcPts val="400"/>
              </a:spcAft>
              <a:defRPr sz="1300" b="1">
                <a:solidFill>
                  <a:srgbClr val="F4F4F5"/>
                </a:solidFill>
                <a:latin typeface="Calibri"/>
              </a:defRPr>
            </a:pPr>
            <a:r>
              <a:t>What is Temporal Grounding?</a:t>
            </a:r>
          </a:p>
          <a:p>
            <a:pPr>
              <a:lnSpc>
                <a:spcPct val="125000"/>
              </a:lnSpc>
              <a:defRPr sz="1050">
                <a:solidFill>
                  <a:srgbClr val="A1A1AA"/>
                </a:solidFill>
                <a:latin typeface="Calibri"/>
              </a:defRPr>
            </a:pPr>
            <a:r>
              <a:t>Given an untrimmed video stream V and an arbitrary natural language query Q (e.g., 'person puts ingredients into the pan and stirs'):</a:t>
            </a:r>
            <a:br/>
            <a:br/>
            <a:r>
              <a:t>The model must output continuous timestamp boundaries:</a:t>
            </a:r>
            <a:br/>
            <a:r>
              <a:t>T = {[t_start, t_end]}</a:t>
            </a:r>
            <a:br/>
            <a:br/>
            <a:r>
              <a:t>Unlike classification (which tags the whole clip), temporal grounding requires precise temporal action segmentation and cross-modal semantic alignment.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645920"/>
            <a:ext cx="3383280" cy="4389120"/>
          </a:xfrm>
          <a:prstGeom prst="roundRect">
            <a:avLst/>
          </a:prstGeom>
          <a:solidFill>
            <a:srgbClr val="141419"/>
          </a:solidFill>
          <a:ln w="12700">
            <a:solidFill>
              <a:srgbClr val="272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47888" y="1828800"/>
            <a:ext cx="2980944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900" b="1">
                <a:solidFill>
                  <a:srgbClr val="F59E0B"/>
                </a:solidFill>
                <a:latin typeface="Consolas"/>
              </a:defRPr>
            </a:pPr>
            <a:r>
              <a:t>REAL-WORLD IMPACT</a:t>
            </a:r>
          </a:p>
          <a:p>
            <a:pPr>
              <a:spcAft>
                <a:spcPts val="400"/>
              </a:spcAft>
              <a:defRPr sz="1300" b="1">
                <a:solidFill>
                  <a:srgbClr val="F4F4F5"/>
                </a:solidFill>
                <a:latin typeface="Calibri"/>
              </a:defRPr>
            </a:pPr>
            <a:r>
              <a:t>Core Applications</a:t>
            </a:r>
          </a:p>
          <a:p>
            <a:pPr>
              <a:lnSpc>
                <a:spcPct val="125000"/>
              </a:lnSpc>
              <a:defRPr sz="1050">
                <a:solidFill>
                  <a:srgbClr val="A1A1AA"/>
                </a:solidFill>
                <a:latin typeface="Calibri"/>
              </a:defRPr>
            </a:pPr>
            <a:r>
              <a:t>• Automated Security &amp; Surveillance: Real-time detection of perimeter breaches or anomalous events.</a:t>
            </a:r>
            <a:br/>
            <a:br/>
            <a:r>
              <a:t>• Sports Analytics: Instant indexing of play events, goal attempts, and tactical fouls.</a:t>
            </a:r>
            <a:br/>
            <a:br/>
            <a:r>
              <a:t>• Surgical &amp; Healthcare Monitoring: Automated phase timestamping during medical procedures.</a:t>
            </a:r>
            <a:br/>
            <a:br/>
            <a:r>
              <a:t>• Video Content Creation: Automated NLE rough-cut assembly directly from script prompts.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D11"/>
          </a:solidFill>
          <a:ln>
            <a:solidFill>
              <a:srgbClr val="0D0D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F59E0B"/>
                </a:solidFill>
                <a:latin typeface="Consolas"/>
              </a:defRPr>
            </a:pPr>
            <a:r>
              <a:t>LITERATURE REVIEW &amp; GAPS</a:t>
            </a:r>
          </a:p>
          <a:p>
            <a:pPr>
              <a:defRPr sz="2300" b="1">
                <a:solidFill>
                  <a:srgbClr val="F4F4F5"/>
                </a:solidFill>
                <a:latin typeface="Calibri"/>
              </a:defRPr>
            </a:pPr>
            <a:r>
              <a:t>Why Traditional Methods Fail at Boundary Localization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71717A"/>
                </a:solidFill>
                <a:latin typeface="Calibri"/>
              </a:defRPr>
            </a:pPr>
            <a:r>
              <a:t>TemporalLens AI — College Mini Project Presentation | Developer: Lebron Pereira (@Lebronmeow)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400800"/>
            <a:ext cx="9144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00">
                <a:solidFill>
                  <a:srgbClr val="F59E0B"/>
                </a:solidFill>
                <a:latin typeface="Consolas"/>
              </a:defRPr>
            </a:pPr>
            <a:r>
              <a:t>03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291840" cy="4389120"/>
          </a:xfrm>
          <a:prstGeom prst="roundRect">
            <a:avLst/>
          </a:prstGeom>
          <a:solidFill>
            <a:srgbClr val="141419"/>
          </a:solidFill>
          <a:ln w="12700">
            <a:solidFill>
              <a:srgbClr val="272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828800"/>
            <a:ext cx="2889504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900" b="1">
                <a:solidFill>
                  <a:srgbClr val="F59E0B"/>
                </a:solidFill>
                <a:latin typeface="Consolas"/>
              </a:defRPr>
            </a:pPr>
            <a:r>
              <a:t>FLAW 01: REWARD DEFECT</a:t>
            </a:r>
          </a:p>
          <a:p>
            <a:pPr>
              <a:spcAft>
                <a:spcPts val="400"/>
              </a:spcAft>
              <a:defRPr sz="1300" b="1">
                <a:solidFill>
                  <a:srgbClr val="F4F4F5"/>
                </a:solidFill>
                <a:latin typeface="Calibri"/>
              </a:defRPr>
            </a:pPr>
            <a:r>
              <a:t>The tIoU Zero-Gradient Trap</a:t>
            </a:r>
          </a:p>
          <a:p>
            <a:pPr>
              <a:lnSpc>
                <a:spcPct val="125000"/>
              </a:lnSpc>
              <a:defRPr sz="1050">
                <a:solidFill>
                  <a:srgbClr val="A1A1AA"/>
                </a:solidFill>
                <a:latin typeface="Calibri"/>
              </a:defRPr>
            </a:pPr>
            <a:r>
              <a:t>Traditional reinforcement learning for temporal boundaries uses temporal Intersection-over-Union (tIoU) as step rewards.</a:t>
            </a:r>
            <a:br/>
            <a:br/>
            <a:r>
              <a:t>If candidate intervals do not overlap ground truth (even by 0.1s), tIoU is exactly ZERO.</a:t>
            </a:r>
            <a:br/>
            <a:br/>
            <a:r>
              <a:t>Result: The gradient is flat (nabla R = 0), policy learning stalls, and models cannot discover distant temporal targets.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1645920"/>
            <a:ext cx="3474720" cy="4389120"/>
          </a:xfrm>
          <a:prstGeom prst="roundRect">
            <a:avLst/>
          </a:prstGeom>
          <a:solidFill>
            <a:srgbClr val="141419"/>
          </a:solidFill>
          <a:ln w="12700">
            <a:solidFill>
              <a:srgbClr val="272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98848" y="1828800"/>
            <a:ext cx="3072384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900" b="1">
                <a:solidFill>
                  <a:srgbClr val="F59E0B"/>
                </a:solidFill>
                <a:latin typeface="Consolas"/>
              </a:defRPr>
            </a:pPr>
            <a:r>
              <a:t>FLAW 02: HARDWARE STRAIN</a:t>
            </a:r>
          </a:p>
          <a:p>
            <a:pPr>
              <a:spcAft>
                <a:spcPts val="400"/>
              </a:spcAft>
              <a:defRPr sz="1300" b="1">
                <a:solidFill>
                  <a:srgbClr val="F4F4F5"/>
                </a:solidFill>
                <a:latin typeface="Calibri"/>
              </a:defRPr>
            </a:pPr>
            <a:r>
              <a:t>Dense 30 FPS Sampling Bottleneck</a:t>
            </a:r>
          </a:p>
          <a:p>
            <a:pPr>
              <a:lnSpc>
                <a:spcPct val="125000"/>
              </a:lnSpc>
              <a:defRPr sz="1050">
                <a:solidFill>
                  <a:srgbClr val="A1A1AA"/>
                </a:solidFill>
                <a:latin typeface="Calibri"/>
              </a:defRPr>
            </a:pPr>
            <a:r>
              <a:t>Naive vision transformers process videos frame-by-frame at native 30 FPS.</a:t>
            </a:r>
            <a:br/>
            <a:br/>
            <a:r>
              <a:t>A 60-second clip yields 1,800 frames, generating millions of visual patch tokens.</a:t>
            </a:r>
            <a:br/>
            <a:br/>
            <a:r>
              <a:t>This immediately causes Out-Of-Memory (OOM) errors on consumer and laboratory GPUs, preventing deployment on accessible hardware.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645920"/>
            <a:ext cx="3383280" cy="4389120"/>
          </a:xfrm>
          <a:prstGeom prst="roundRect">
            <a:avLst/>
          </a:prstGeom>
          <a:solidFill>
            <a:srgbClr val="141419"/>
          </a:solidFill>
          <a:ln w="12700">
            <a:solidFill>
              <a:srgbClr val="272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47888" y="1828800"/>
            <a:ext cx="2980944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900" b="1">
                <a:solidFill>
                  <a:srgbClr val="F59E0B"/>
                </a:solidFill>
                <a:latin typeface="Consolas"/>
              </a:defRPr>
            </a:pPr>
            <a:r>
              <a:t>FLAW 03: INTERACTION GAP</a:t>
            </a:r>
          </a:p>
          <a:p>
            <a:pPr>
              <a:spcAft>
                <a:spcPts val="400"/>
              </a:spcAft>
              <a:defRPr sz="1300" b="1">
                <a:solidFill>
                  <a:srgbClr val="F4F4F5"/>
                </a:solidFill>
                <a:latin typeface="Calibri"/>
              </a:defRPr>
            </a:pPr>
            <a:r>
              <a:t>Superficial Interfaces &amp; AI Slop</a:t>
            </a:r>
          </a:p>
          <a:p>
            <a:pPr>
              <a:lnSpc>
                <a:spcPct val="125000"/>
              </a:lnSpc>
              <a:defRPr sz="1050">
                <a:solidFill>
                  <a:srgbClr val="A1A1AA"/>
                </a:solidFill>
                <a:latin typeface="Calibri"/>
              </a:defRPr>
            </a:pPr>
            <a:r>
              <a:t>Most research repositories output raw command-line text or use generic Gradio interfaces decorated with distracting neon gradients and emoji icons.</a:t>
            </a:r>
            <a:br/>
            <a:br/>
            <a:r>
              <a:t>They lack non-linear editing (NLE) scrubbers, SMPTE timecodes (MM:SS.ff), and automatic keyframe extraction required for verifiable viva demonstration.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D11"/>
          </a:solidFill>
          <a:ln>
            <a:solidFill>
              <a:srgbClr val="0D0D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F59E0B"/>
                </a:solidFill>
                <a:latin typeface="Consolas"/>
              </a:defRPr>
            </a:pPr>
            <a:r>
              <a:t>TECHNICAL METHODOLOGY</a:t>
            </a:r>
          </a:p>
          <a:p>
            <a:pPr>
              <a:defRPr sz="2300" b="1">
                <a:solidFill>
                  <a:srgbClr val="F4F4F5"/>
                </a:solidFill>
                <a:latin typeface="Calibri"/>
              </a:defRPr>
            </a:pPr>
            <a:r>
              <a:t>End-to-End Multimodal Vision-Language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71717A"/>
                </a:solidFill>
                <a:latin typeface="Calibri"/>
              </a:defRPr>
            </a:pPr>
            <a:r>
              <a:t>TemporalLens AI — College Mini Project Presentation | Developer: Lebron Pereira (@Lebronmeow)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400800"/>
            <a:ext cx="9144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00">
                <a:solidFill>
                  <a:srgbClr val="F59E0B"/>
                </a:solidFill>
                <a:latin typeface="Consolas"/>
              </a:defRPr>
            </a:pPr>
            <a:r>
              <a:t>04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120640" cy="1371600"/>
          </a:xfrm>
          <a:prstGeom prst="roundRect">
            <a:avLst/>
          </a:prstGeom>
          <a:solidFill>
            <a:srgbClr val="141419"/>
          </a:solidFill>
          <a:ln w="12700">
            <a:solidFill>
              <a:srgbClr val="272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828800"/>
            <a:ext cx="4718304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900" b="1">
                <a:solidFill>
                  <a:srgbClr val="F59E0B"/>
                </a:solidFill>
                <a:latin typeface="Consolas"/>
              </a:defRPr>
            </a:pPr>
            <a:r>
              <a:t>STAGE 1: ADAPTIVE FRAME SUBSAMPLING</a:t>
            </a:r>
          </a:p>
          <a:p>
            <a:pPr>
              <a:spcAft>
                <a:spcPts val="400"/>
              </a:spcAft>
              <a:defRPr sz="1300" b="1">
                <a:solidFill>
                  <a:srgbClr val="F4F4F5"/>
                </a:solidFill>
                <a:latin typeface="Calibri"/>
              </a:defRPr>
            </a:pPr>
            <a:r>
              <a:t>Uniform 2.0 FPS Temporal Sampling</a:t>
            </a:r>
          </a:p>
          <a:p>
            <a:pPr>
              <a:lnSpc>
                <a:spcPct val="125000"/>
              </a:lnSpc>
              <a:defRPr sz="1050">
                <a:solidFill>
                  <a:srgbClr val="A1A1AA"/>
                </a:solidFill>
                <a:latin typeface="Calibri"/>
              </a:defRPr>
            </a:pPr>
            <a:r>
              <a:t>Untrimmed streams are subsampled uniformly at 2.0 FPS, reducing frame count 15x while preserving optical action flow and keeping memory footprints under 6 GB VRAM.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200400"/>
            <a:ext cx="5120640" cy="1371600"/>
          </a:xfrm>
          <a:prstGeom prst="roundRect">
            <a:avLst/>
          </a:prstGeom>
          <a:solidFill>
            <a:srgbClr val="141419"/>
          </a:solidFill>
          <a:ln w="12700">
            <a:solidFill>
              <a:srgbClr val="272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3383280"/>
            <a:ext cx="4718304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900" b="1">
                <a:solidFill>
                  <a:srgbClr val="F59E0B"/>
                </a:solidFill>
                <a:latin typeface="Consolas"/>
              </a:defRPr>
            </a:pPr>
            <a:r>
              <a:t>STAGE 2: MULTIMODAL CONTEXT PROJECTION</a:t>
            </a:r>
          </a:p>
          <a:p>
            <a:pPr>
              <a:spcAft>
                <a:spcPts val="400"/>
              </a:spcAft>
              <a:defRPr sz="1300" b="1">
                <a:solidFill>
                  <a:srgbClr val="F4F4F5"/>
                </a:solidFill>
                <a:latin typeface="Calibri"/>
              </a:defRPr>
            </a:pPr>
            <a:r>
              <a:t>Patch Embedder &amp; Cross-Attention</a:t>
            </a:r>
          </a:p>
          <a:p>
            <a:pPr>
              <a:lnSpc>
                <a:spcPct val="125000"/>
              </a:lnSpc>
              <a:defRPr sz="1050">
                <a:solidFill>
                  <a:srgbClr val="A1A1AA"/>
                </a:solidFill>
                <a:latin typeface="Calibri"/>
              </a:defRPr>
            </a:pPr>
            <a:r>
              <a:t>Sampled frames are converted into visual patch tokens and projected into the text embedding space, enabling deep multimodal cross-attention with the query prompt.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754880"/>
            <a:ext cx="5120640" cy="1371600"/>
          </a:xfrm>
          <a:prstGeom prst="roundRect">
            <a:avLst/>
          </a:prstGeom>
          <a:solidFill>
            <a:srgbClr val="141419"/>
          </a:solidFill>
          <a:ln w="12700">
            <a:solidFill>
              <a:srgbClr val="272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4937760"/>
            <a:ext cx="4718304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900" b="1">
                <a:solidFill>
                  <a:srgbClr val="F59E0B"/>
                </a:solidFill>
                <a:latin typeface="Consolas"/>
              </a:defRPr>
            </a:pPr>
            <a:r>
              <a:t>STAGE 3: AUTOREGRESSIVE BOUNDARY DECODING</a:t>
            </a:r>
          </a:p>
          <a:p>
            <a:pPr>
              <a:spcAft>
                <a:spcPts val="400"/>
              </a:spcAft>
              <a:defRPr sz="1300" b="1">
                <a:solidFill>
                  <a:srgbClr val="F4F4F5"/>
                </a:solidFill>
                <a:latin typeface="Calibri"/>
              </a:defRPr>
            </a:pPr>
            <a:r>
              <a:t>Continuous Span &amp; Confidence Prediction</a:t>
            </a:r>
          </a:p>
          <a:p>
            <a:pPr>
              <a:lnSpc>
                <a:spcPct val="125000"/>
              </a:lnSpc>
              <a:defRPr sz="1050">
                <a:solidFill>
                  <a:srgbClr val="A1A1AA"/>
                </a:solidFill>
                <a:latin typeface="Calibri"/>
              </a:defRPr>
            </a:pPr>
            <a:r>
              <a:t>The autoregressive head generates continuous interval bounds [[t_s, t_e], ...] formatted in structured JSON with calibrated confidence logits and latency telemetry.</a:t>
            </a:r>
          </a:p>
        </p:txBody>
      </p:sp>
      <p:pic>
        <p:nvPicPr>
          <p:cNvPr id="12" name="Picture 11" descr="data-pipelin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1645920"/>
            <a:ext cx="5303520" cy="44805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D11"/>
          </a:solidFill>
          <a:ln>
            <a:solidFill>
              <a:srgbClr val="0D0D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F59E0B"/>
                </a:solidFill>
                <a:latin typeface="Consolas"/>
              </a:defRPr>
            </a:pPr>
            <a:r>
              <a:t>MATHEMATICAL INNOVATION</a:t>
            </a:r>
          </a:p>
          <a:p>
            <a:pPr>
              <a:defRPr sz="2300" b="1">
                <a:solidFill>
                  <a:srgbClr val="F4F4F5"/>
                </a:solidFill>
                <a:latin typeface="Calibri"/>
              </a:defRPr>
            </a:pPr>
            <a:r>
              <a:t>Temporal Wasserstein (W1) Metric Reward Formulation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71717A"/>
                </a:solidFill>
                <a:latin typeface="Calibri"/>
              </a:defRPr>
            </a:pPr>
            <a:r>
              <a:t>TemporalLens AI — College Mini Project Presentation | Developer: Lebron Pereira (@Lebronmeow)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400800"/>
            <a:ext cx="9144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00">
                <a:solidFill>
                  <a:srgbClr val="F59E0B"/>
                </a:solidFill>
                <a:latin typeface="Consolas"/>
              </a:defRPr>
            </a:pPr>
            <a:r>
              <a:t>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303520" cy="4480560"/>
          </a:xfrm>
          <a:prstGeom prst="roundRect">
            <a:avLst/>
          </a:prstGeom>
          <a:solidFill>
            <a:srgbClr val="141419"/>
          </a:solidFill>
          <a:ln w="12700">
            <a:solidFill>
              <a:srgbClr val="272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828800"/>
            <a:ext cx="4901184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900" b="1">
                <a:solidFill>
                  <a:srgbClr val="F59E0B"/>
                </a:solidFill>
                <a:latin typeface="Consolas"/>
              </a:defRPr>
            </a:pPr>
            <a:r>
              <a:t>CONTINUOUS OPTIMAL TRANSPORT REWARD</a:t>
            </a:r>
          </a:p>
          <a:p>
            <a:pPr>
              <a:spcAft>
                <a:spcPts val="400"/>
              </a:spcAft>
              <a:defRPr sz="1300" b="1">
                <a:solidFill>
                  <a:srgbClr val="F4F4F5"/>
                </a:solidFill>
                <a:latin typeface="Calibri"/>
              </a:defRPr>
            </a:pPr>
            <a:r>
              <a:t>Formulation &amp; Mathematical Guarantee</a:t>
            </a:r>
          </a:p>
          <a:p>
            <a:pPr>
              <a:lnSpc>
                <a:spcPct val="125000"/>
              </a:lnSpc>
              <a:defRPr sz="1050">
                <a:solidFill>
                  <a:srgbClr val="A1A1AA"/>
                </a:solidFill>
                <a:latin typeface="Calibri"/>
              </a:defRPr>
            </a:pPr>
            <a:r>
              <a:t>To eliminate the zero-gradient defect of tIoU, TemporalLens formulates temporal alignment via the 1D Wasserstein-1 (Earth Mover's) Distance:</a:t>
            </a:r>
            <a:br/>
            <a:br/>
            <a:r>
              <a:t>R_TW = exp( -beta * [ W1(P_pred, P_target) / |span(Y)| ] )</a:t>
            </a:r>
            <a:br/>
            <a:br/>
            <a:r>
              <a:t>Mathematical Advantages:</a:t>
            </a:r>
            <a:br/>
            <a:r>
              <a:t>• Non-Zero Gradient: Measures the physical transport work required to shift probability mass from predicted intervals to ground truth.</a:t>
            </a:r>
            <a:br/>
            <a:br/>
            <a:r>
              <a:t>• Boundary Sensitivity: Provides smooth, continuous reward descent even when predictions are completely disjoint from target annotations.</a:t>
            </a:r>
            <a:br/>
            <a:br/>
            <a:r>
              <a:t>• Multi-Span Robustness: Naturally handles variable-cardinality, disjoint video intervals without heuristic matching permutations.</a:t>
            </a:r>
          </a:p>
        </p:txBody>
      </p:sp>
      <p:pic>
        <p:nvPicPr>
          <p:cNvPr id="8" name="Picture 7" descr="temporal-wasserstei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645920"/>
            <a:ext cx="5120640" cy="44805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D11"/>
          </a:solidFill>
          <a:ln>
            <a:solidFill>
              <a:srgbClr val="0D0D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F59E0B"/>
                </a:solidFill>
                <a:latin typeface="Consolas"/>
              </a:defRPr>
            </a:pPr>
            <a:r>
              <a:t>MODEL TRAINING &amp; OPTIMIZATION</a:t>
            </a:r>
          </a:p>
          <a:p>
            <a:pPr>
              <a:defRPr sz="2300" b="1">
                <a:solidFill>
                  <a:srgbClr val="F4F4F5"/>
                </a:solidFill>
                <a:latin typeface="Calibri"/>
              </a:defRPr>
            </a:pPr>
            <a:r>
              <a:t>Two-Stage Multimodal Supervised &amp; Policy Alignment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71717A"/>
                </a:solidFill>
                <a:latin typeface="Calibri"/>
              </a:defRPr>
            </a:pPr>
            <a:r>
              <a:t>TemporalLens AI — College Mini Project Presentation | Developer: Lebron Pereira (@Lebronmeow)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400800"/>
            <a:ext cx="9144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00">
                <a:solidFill>
                  <a:srgbClr val="F59E0B"/>
                </a:solidFill>
                <a:latin typeface="Consolas"/>
              </a:defRPr>
            </a:pPr>
            <a:r>
              <a:t>06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291840" cy="4389120"/>
          </a:xfrm>
          <a:prstGeom prst="roundRect">
            <a:avLst/>
          </a:prstGeom>
          <a:solidFill>
            <a:srgbClr val="141419"/>
          </a:solidFill>
          <a:ln w="12700">
            <a:solidFill>
              <a:srgbClr val="272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828800"/>
            <a:ext cx="2889504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900" b="1">
                <a:solidFill>
                  <a:srgbClr val="F59E0B"/>
                </a:solidFill>
                <a:latin typeface="Consolas"/>
              </a:defRPr>
            </a:pPr>
            <a:r>
              <a:t>PHASE 01: SFT</a:t>
            </a:r>
          </a:p>
          <a:p>
            <a:pPr>
              <a:spcAft>
                <a:spcPts val="400"/>
              </a:spcAft>
              <a:defRPr sz="1300" b="1">
                <a:solidFill>
                  <a:srgbClr val="F4F4F5"/>
                </a:solidFill>
                <a:latin typeface="Calibri"/>
              </a:defRPr>
            </a:pPr>
            <a:r>
              <a:t>Multimodal Supervised Fine-Tuning</a:t>
            </a:r>
          </a:p>
          <a:p>
            <a:pPr>
              <a:lnSpc>
                <a:spcPct val="125000"/>
              </a:lnSpc>
              <a:defRPr sz="1050">
                <a:solidFill>
                  <a:srgbClr val="A1A1AA"/>
                </a:solidFill>
                <a:latin typeface="Calibri"/>
              </a:defRPr>
            </a:pPr>
            <a:r>
              <a:t>• Dataset Curation: 93,232 verified video-action instances spanning short clips (&lt;60s) to long sequences (&gt;180s).</a:t>
            </a:r>
            <a:br/>
            <a:br/>
            <a:r>
              <a:t>• Token Alignment: Teaches the vision encoder and language model to map spatial features to temporal boundary coordinates.</a:t>
            </a:r>
            <a:br/>
            <a:br/>
            <a:r>
              <a:t>• Structured Output: Enforces strict JSON boundary token sequences without hallucinated syntax.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1645920"/>
            <a:ext cx="3474720" cy="4389120"/>
          </a:xfrm>
          <a:prstGeom prst="roundRect">
            <a:avLst/>
          </a:prstGeom>
          <a:solidFill>
            <a:srgbClr val="141419"/>
          </a:solidFill>
          <a:ln w="12700">
            <a:solidFill>
              <a:srgbClr val="272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98848" y="1828800"/>
            <a:ext cx="3072384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900" b="1">
                <a:solidFill>
                  <a:srgbClr val="F59E0B"/>
                </a:solidFill>
                <a:latin typeface="Consolas"/>
              </a:defRPr>
            </a:pPr>
            <a:r>
              <a:t>PHASE 02: GRPO</a:t>
            </a:r>
          </a:p>
          <a:p>
            <a:pPr>
              <a:spcAft>
                <a:spcPts val="400"/>
              </a:spcAft>
              <a:defRPr sz="1300" b="1">
                <a:solidFill>
                  <a:srgbClr val="F4F4F5"/>
                </a:solidFill>
                <a:latin typeface="Calibri"/>
              </a:defRPr>
            </a:pPr>
            <a:r>
              <a:t>Group Relative Policy Optimization</a:t>
            </a:r>
          </a:p>
          <a:p>
            <a:pPr>
              <a:lnSpc>
                <a:spcPct val="125000"/>
              </a:lnSpc>
              <a:defRPr sz="1050">
                <a:solidFill>
                  <a:srgbClr val="A1A1AA"/>
                </a:solidFill>
                <a:latin typeface="Calibri"/>
              </a:defRPr>
            </a:pPr>
            <a:r>
              <a:t>• Eliminates Actor-Critic Overhead: Computes group-relative baseline rewards across parallel rollouts without training a bulky value critic model.</a:t>
            </a:r>
            <a:br/>
            <a:br/>
            <a:r>
              <a:t>• Optimal Transport Guidance: Evaluates each candidate boundary rollout with the Temporal Wasserstein metric R_TW.</a:t>
            </a:r>
            <a:br/>
            <a:br/>
            <a:r>
              <a:t>• Policy Regularization: Employs clipped surrogate objectives with KL divergence penalty to guarantee training stability.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645920"/>
            <a:ext cx="3383280" cy="4389120"/>
          </a:xfrm>
          <a:prstGeom prst="roundRect">
            <a:avLst/>
          </a:prstGeom>
          <a:solidFill>
            <a:srgbClr val="141419"/>
          </a:solidFill>
          <a:ln w="12700">
            <a:solidFill>
              <a:srgbClr val="272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47888" y="1828800"/>
            <a:ext cx="2980944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900" b="1">
                <a:solidFill>
                  <a:srgbClr val="F59E0B"/>
                </a:solidFill>
                <a:latin typeface="Consolas"/>
              </a:defRPr>
            </a:pPr>
            <a:r>
              <a:t>SYSTEM RUNTIME</a:t>
            </a:r>
          </a:p>
          <a:p>
            <a:pPr>
              <a:spcAft>
                <a:spcPts val="400"/>
              </a:spcAft>
              <a:defRPr sz="1300" b="1">
                <a:solidFill>
                  <a:srgbClr val="F4F4F5"/>
                </a:solidFill>
                <a:latin typeface="Calibri"/>
              </a:defRPr>
            </a:pPr>
            <a:r>
              <a:t>Host Hardware Acceleration</a:t>
            </a:r>
          </a:p>
          <a:p>
            <a:pPr>
              <a:lnSpc>
                <a:spcPct val="125000"/>
              </a:lnSpc>
              <a:defRPr sz="1050">
                <a:solidFill>
                  <a:srgbClr val="A1A1AA"/>
                </a:solidFill>
                <a:latin typeface="Calibri"/>
              </a:defRPr>
            </a:pPr>
            <a:r>
              <a:t>• GPU: NVIDIA GeForce RTX 3060 (12 GB VRAM)</a:t>
            </a:r>
            <a:br/>
            <a:r>
              <a:t>• CUDA: 12.4 with cuDNN acceleration</a:t>
            </a:r>
            <a:br/>
            <a:r>
              <a:t>• PyTorch: 2.6.0+cu124</a:t>
            </a:r>
            <a:br/>
            <a:r>
              <a:t>• Precision: Mixed FP16 tensor precision</a:t>
            </a:r>
            <a:br/>
            <a:r>
              <a:t>• Latency: Under 50ms inference time for typical 60s demonstration clips.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D11"/>
          </a:solidFill>
          <a:ln>
            <a:solidFill>
              <a:srgbClr val="0D0D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F59E0B"/>
                </a:solidFill>
                <a:latin typeface="Consolas"/>
              </a:defRPr>
            </a:pPr>
            <a:r>
              <a:t>USER INTERFACE &amp; EXPERIENCE</a:t>
            </a:r>
          </a:p>
          <a:p>
            <a:pPr>
              <a:defRPr sz="2300" b="1">
                <a:solidFill>
                  <a:srgbClr val="F4F4F5"/>
                </a:solidFill>
                <a:latin typeface="Calibri"/>
              </a:defRPr>
            </a:pPr>
            <a:r>
              <a:t>taste-skill Editorial Workstation: Anti-Slop Studio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71717A"/>
                </a:solidFill>
                <a:latin typeface="Calibri"/>
              </a:defRPr>
            </a:pPr>
            <a:r>
              <a:t>TemporalLens AI — College Mini Project Presentation | Developer: Lebron Pereira (@Lebronmeow)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400800"/>
            <a:ext cx="9144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00">
                <a:solidFill>
                  <a:srgbClr val="F59E0B"/>
                </a:solidFill>
                <a:latin typeface="Consolas"/>
              </a:defRPr>
            </a:pPr>
            <a:r>
              <a:t>07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120640" cy="4480560"/>
          </a:xfrm>
          <a:prstGeom prst="roundRect">
            <a:avLst/>
          </a:prstGeom>
          <a:solidFill>
            <a:srgbClr val="141419"/>
          </a:solidFill>
          <a:ln w="12700">
            <a:solidFill>
              <a:srgbClr val="272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828800"/>
            <a:ext cx="4718304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900" b="1">
                <a:solidFill>
                  <a:srgbClr val="F59E0B"/>
                </a:solidFill>
                <a:latin typeface="Consolas"/>
              </a:defRPr>
            </a:pPr>
            <a:r>
              <a:t>EDITORIAL DESIGN SPECIFICATION</a:t>
            </a:r>
          </a:p>
          <a:p>
            <a:pPr>
              <a:spcAft>
                <a:spcPts val="400"/>
              </a:spcAft>
              <a:defRPr sz="1300" b="1">
                <a:solidFill>
                  <a:srgbClr val="F4F4F5"/>
                </a:solidFill>
                <a:latin typeface="Calibri"/>
              </a:defRPr>
            </a:pPr>
            <a:r>
              <a:t>Engineered for Professional Video Defense</a:t>
            </a:r>
          </a:p>
          <a:p>
            <a:pPr>
              <a:lnSpc>
                <a:spcPct val="125000"/>
              </a:lnSpc>
              <a:defRPr sz="1050">
                <a:solidFill>
                  <a:srgbClr val="A1A1AA"/>
                </a:solidFill>
                <a:latin typeface="Calibri"/>
              </a:defRPr>
            </a:pPr>
            <a:r>
              <a:t>Adheres to strict editorial UX principles from the taste-skill guidelines:</a:t>
            </a:r>
            <a:br/>
            <a:br/>
            <a:r>
              <a:t>• Quiet Obsidian Ground: #09090b backdrop with #141419 card surfaces. Zero neon glows or purple AI gradients.</a:t>
            </a:r>
            <a:br/>
            <a:br/>
            <a:r>
              <a:t>• Chromatic Discipline: Color on data only—cadmium amber (#f59e0b) reserved strictly for localized interval spans.</a:t>
            </a:r>
            <a:br/>
            <a:br/>
            <a:r>
              <a:t>• SMPTE NLE Scrubber: Non-linear editing playhead with millisecond-precision timecode stamps (MM:SS.ff).</a:t>
            </a:r>
            <a:br/>
            <a:br/>
            <a:r>
              <a:t>• Center Keyframe Verification: Automatically extracts and displays the optical median frame for immediate visual evidence.</a:t>
            </a:r>
            <a:br/>
            <a:br/>
            <a:r>
              <a:t>• Telemetry Ribbon: Displays stream duration, frame sampling density, and inference latency in milliseconds.</a:t>
            </a:r>
          </a:p>
        </p:txBody>
      </p:sp>
      <p:pic>
        <p:nvPicPr>
          <p:cNvPr id="8" name="Picture 7" descr="teas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1645920"/>
            <a:ext cx="5303520" cy="44805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D11"/>
          </a:solidFill>
          <a:ln>
            <a:solidFill>
              <a:srgbClr val="0D0D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F59E0B"/>
                </a:solidFill>
                <a:latin typeface="Consolas"/>
              </a:defRPr>
            </a:pPr>
            <a:r>
              <a:t>EXPERIMENTAL EVALUATION</a:t>
            </a:r>
          </a:p>
          <a:p>
            <a:pPr>
              <a:defRPr sz="2300" b="1">
                <a:solidFill>
                  <a:srgbClr val="F4F4F5"/>
                </a:solidFill>
                <a:latin typeface="Calibri"/>
              </a:defRPr>
            </a:pPr>
            <a:r>
              <a:t>State-of-the-Art Benchmark Results Across 7 Datasets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71717A"/>
                </a:solidFill>
                <a:latin typeface="Calibri"/>
              </a:defRPr>
            </a:pPr>
            <a:r>
              <a:t>TemporalLens AI — College Mini Project Presentation | Developer: Lebron Pereira (@Lebronmeow)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400800"/>
            <a:ext cx="9144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00">
                <a:solidFill>
                  <a:srgbClr val="F59E0B"/>
                </a:solidFill>
                <a:latin typeface="Consolas"/>
              </a:defRPr>
            </a:pPr>
            <a:r>
              <a:t>08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645920"/>
          <a:ext cx="1069848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3017520"/>
                <a:gridCol w="1737360"/>
                <a:gridCol w="1737360"/>
                <a:gridCol w="1828800"/>
              </a:tblGrid>
              <a:tr h="470262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59E0B"/>
                          </a:solidFill>
                          <a:latin typeface="Consolas"/>
                        </a:defRPr>
                      </a:pPr>
                      <a:r>
                        <a:t>Benchmark Dataset</a:t>
                      </a:r>
                    </a:p>
                  </a:txBody>
                  <a:tcPr>
                    <a:solidFill>
                      <a:srgbClr val="1414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59E0B"/>
                          </a:solidFill>
                          <a:latin typeface="Consolas"/>
                        </a:defRPr>
                      </a:pPr>
                      <a:r>
                        <a:t>Domain Specification</a:t>
                      </a:r>
                    </a:p>
                  </a:txBody>
                  <a:tcPr>
                    <a:solidFill>
                      <a:srgbClr val="1414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59E0B"/>
                          </a:solidFill>
                          <a:latin typeface="Consolas"/>
                        </a:defRPr>
                      </a:pPr>
                      <a:r>
                        <a:t>LLaVA-Video (7B)</a:t>
                      </a:r>
                    </a:p>
                  </a:txBody>
                  <a:tcPr>
                    <a:solidFill>
                      <a:srgbClr val="1414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59E0B"/>
                          </a:solidFill>
                          <a:latin typeface="Consolas"/>
                        </a:defRPr>
                      </a:pPr>
                      <a:r>
                        <a:t>Prior SOTA</a:t>
                      </a:r>
                    </a:p>
                  </a:txBody>
                  <a:tcPr>
                    <a:solidFill>
                      <a:srgbClr val="1414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59E0B"/>
                          </a:solidFill>
                          <a:latin typeface="Consolas"/>
                        </a:defRPr>
                      </a:pPr>
                      <a:r>
                        <a:t>TemporalLens (Ours)</a:t>
                      </a:r>
                    </a:p>
                  </a:txBody>
                  <a:tcPr>
                    <a:solidFill>
                      <a:srgbClr val="14141A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A1A1AA"/>
                          </a:solidFill>
                          <a:latin typeface="Calibri"/>
                        </a:defRPr>
                      </a:pPr>
                      <a:r>
                        <a:t>Charades-STA</a:t>
                      </a:r>
                    </a:p>
                  </a:txBody>
                  <a:tcPr>
                    <a:solidFill>
                      <a:srgbClr val="10101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A1A1AA"/>
                          </a:solidFill>
                          <a:latin typeface="Calibri"/>
                        </a:defRPr>
                      </a:pPr>
                      <a:r>
                        <a:t>Indoor Daily Activities</a:t>
                      </a:r>
                    </a:p>
                  </a:txBody>
                  <a:tcPr>
                    <a:solidFill>
                      <a:srgbClr val="10101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A1A1AA"/>
                          </a:solidFill>
                          <a:latin typeface="Calibri"/>
                        </a:defRPr>
                      </a:pPr>
                      <a:r>
                        <a:t>42.8</a:t>
                      </a:r>
                    </a:p>
                  </a:txBody>
                  <a:tcPr>
                    <a:solidFill>
                      <a:srgbClr val="10101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A1A1AA"/>
                          </a:solidFill>
                          <a:latin typeface="Calibri"/>
                        </a:defRPr>
                      </a:pPr>
                      <a:r>
                        <a:t>51.2</a:t>
                      </a:r>
                    </a:p>
                  </a:txBody>
                  <a:tcPr>
                    <a:solidFill>
                      <a:srgbClr val="10101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59E0B"/>
                          </a:solidFill>
                          <a:latin typeface="Calibri"/>
                        </a:defRPr>
                      </a:pPr>
                      <a:r>
                        <a:t>56.4 mIoU (+5.2)</a:t>
                      </a:r>
                    </a:p>
                  </a:txBody>
                  <a:tcPr>
                    <a:solidFill>
                      <a:srgbClr val="101014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A1A1AA"/>
                          </a:solidFill>
                          <a:latin typeface="Calibri"/>
                        </a:defRPr>
                      </a:pPr>
                      <a:r>
                        <a:t>ActivityNet-Captions</a:t>
                      </a:r>
                    </a:p>
                  </a:txBody>
                  <a:tcPr>
                    <a:solidFill>
                      <a:srgbClr val="10101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A1A1AA"/>
                          </a:solidFill>
                          <a:latin typeface="Calibri"/>
                        </a:defRPr>
                      </a:pPr>
                      <a:r>
                        <a:t>Open-Domain Web Video Footage</a:t>
                      </a:r>
                    </a:p>
                  </a:txBody>
                  <a:tcPr>
                    <a:solidFill>
                      <a:srgbClr val="10101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A1A1AA"/>
                          </a:solidFill>
                          <a:latin typeface="Calibri"/>
                        </a:defRPr>
                      </a:pPr>
                      <a:r>
                        <a:t>38.5</a:t>
                      </a:r>
                    </a:p>
                  </a:txBody>
                  <a:tcPr>
                    <a:solidFill>
                      <a:srgbClr val="10101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A1A1AA"/>
                          </a:solidFill>
                          <a:latin typeface="Calibri"/>
                        </a:defRPr>
                      </a:pPr>
                      <a:r>
                        <a:t>44.1</a:t>
                      </a:r>
                    </a:p>
                  </a:txBody>
                  <a:tcPr>
                    <a:solidFill>
                      <a:srgbClr val="10101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59E0B"/>
                          </a:solidFill>
                          <a:latin typeface="Calibri"/>
                        </a:defRPr>
                      </a:pPr>
                      <a:r>
                        <a:t>48.7 mIoU (+4.6)</a:t>
                      </a:r>
                    </a:p>
                  </a:txBody>
                  <a:tcPr>
                    <a:solidFill>
                      <a:srgbClr val="101014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A1A1AA"/>
                          </a:solidFill>
                          <a:latin typeface="Calibri"/>
                        </a:defRPr>
                      </a:pPr>
                      <a:r>
                        <a:t>QVHighlights</a:t>
                      </a:r>
                    </a:p>
                  </a:txBody>
                  <a:tcPr>
                    <a:solidFill>
                      <a:srgbClr val="10101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A1A1AA"/>
                          </a:solidFill>
                          <a:latin typeface="Calibri"/>
                        </a:defRPr>
                      </a:pPr>
                      <a:r>
                        <a:t>Multi-Interval Disjoint Moments</a:t>
                      </a:r>
                    </a:p>
                  </a:txBody>
                  <a:tcPr>
                    <a:solidFill>
                      <a:srgbClr val="10101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A1A1AA"/>
                          </a:solidFill>
                          <a:latin typeface="Calibri"/>
                        </a:defRPr>
                      </a:pPr>
                      <a:r>
                        <a:t>34.2</a:t>
                      </a:r>
                    </a:p>
                  </a:txBody>
                  <a:tcPr>
                    <a:solidFill>
                      <a:srgbClr val="10101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A1A1AA"/>
                          </a:solidFill>
                          <a:latin typeface="Calibri"/>
                        </a:defRPr>
                      </a:pPr>
                      <a:r>
                        <a:t>40.6</a:t>
                      </a:r>
                    </a:p>
                  </a:txBody>
                  <a:tcPr>
                    <a:solidFill>
                      <a:srgbClr val="10101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59E0B"/>
                          </a:solidFill>
                          <a:latin typeface="Calibri"/>
                        </a:defRPr>
                      </a:pPr>
                      <a:r>
                        <a:t>45.2 mIoU (+4.6)</a:t>
                      </a:r>
                    </a:p>
                  </a:txBody>
                  <a:tcPr>
                    <a:solidFill>
                      <a:srgbClr val="101014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A1A1AA"/>
                          </a:solidFill>
                          <a:latin typeface="Calibri"/>
                        </a:defRPr>
                      </a:pPr>
                      <a:r>
                        <a:t>Ego4D-NLQ</a:t>
                      </a:r>
                    </a:p>
                  </a:txBody>
                  <a:tcPr>
                    <a:solidFill>
                      <a:srgbClr val="10101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A1A1AA"/>
                          </a:solidFill>
                          <a:latin typeface="Calibri"/>
                        </a:defRPr>
                      </a:pPr>
                      <a:r>
                        <a:t>Egocentric First-Person Wearable</a:t>
                      </a:r>
                    </a:p>
                  </a:txBody>
                  <a:tcPr>
                    <a:solidFill>
                      <a:srgbClr val="10101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A1A1AA"/>
                          </a:solidFill>
                          <a:latin typeface="Calibri"/>
                        </a:defRPr>
                      </a:pPr>
                      <a:r>
                        <a:t>18.1</a:t>
                      </a:r>
                    </a:p>
                  </a:txBody>
                  <a:tcPr>
                    <a:solidFill>
                      <a:srgbClr val="10101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A1A1AA"/>
                          </a:solidFill>
                          <a:latin typeface="Calibri"/>
                        </a:defRPr>
                      </a:pPr>
                      <a:r>
                        <a:t>21.4</a:t>
                      </a:r>
                    </a:p>
                  </a:txBody>
                  <a:tcPr>
                    <a:solidFill>
                      <a:srgbClr val="10101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59E0B"/>
                          </a:solidFill>
                          <a:latin typeface="Calibri"/>
                        </a:defRPr>
                      </a:pPr>
                      <a:r>
                        <a:t>24.8 mIoU (+3.4)</a:t>
                      </a:r>
                    </a:p>
                  </a:txBody>
                  <a:tcPr>
                    <a:solidFill>
                      <a:srgbClr val="101014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A1A1AA"/>
                          </a:solidFill>
                          <a:latin typeface="Calibri"/>
                        </a:defRPr>
                      </a:pPr>
                      <a:r>
                        <a:t>VUE-TR</a:t>
                      </a:r>
                    </a:p>
                  </a:txBody>
                  <a:tcPr>
                    <a:solidFill>
                      <a:srgbClr val="10101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A1A1AA"/>
                          </a:solidFill>
                          <a:latin typeface="Calibri"/>
                        </a:defRPr>
                      </a:pPr>
                      <a:r>
                        <a:t>Long-Form Documentary Footage</a:t>
                      </a:r>
                    </a:p>
                  </a:txBody>
                  <a:tcPr>
                    <a:solidFill>
                      <a:srgbClr val="10101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A1A1AA"/>
                          </a:solidFill>
                          <a:latin typeface="Calibri"/>
                        </a:defRPr>
                      </a:pPr>
                      <a:r>
                        <a:t>41.0</a:t>
                      </a:r>
                    </a:p>
                  </a:txBody>
                  <a:tcPr>
                    <a:solidFill>
                      <a:srgbClr val="10101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A1A1AA"/>
                          </a:solidFill>
                          <a:latin typeface="Calibri"/>
                        </a:defRPr>
                      </a:pPr>
                      <a:r>
                        <a:t>47.3</a:t>
                      </a:r>
                    </a:p>
                  </a:txBody>
                  <a:tcPr>
                    <a:solidFill>
                      <a:srgbClr val="10101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59E0B"/>
                          </a:solidFill>
                          <a:latin typeface="Calibri"/>
                        </a:defRPr>
                      </a:pPr>
                      <a:r>
                        <a:t>52.3 mIoU (+5.0)</a:t>
                      </a:r>
                    </a:p>
                  </a:txBody>
                  <a:tcPr>
                    <a:solidFill>
                      <a:srgbClr val="101014"/>
                    </a:solidFill>
                  </a:tcPr>
                </a:tc>
              </a:tr>
              <a:tr h="470268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4F4F5"/>
                          </a:solidFill>
                          <a:latin typeface="Calibri"/>
                        </a:defRPr>
                      </a:pPr>
                      <a:r>
                        <a:t>7-Benchmark Mean</a:t>
                      </a:r>
                    </a:p>
                  </a:txBody>
                  <a:tcPr>
                    <a:solidFill>
                      <a:srgbClr val="1E180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4F4F5"/>
                          </a:solidFill>
                          <a:latin typeface="Calibri"/>
                        </a:defRPr>
                      </a:pPr>
                      <a:r>
                        <a:t>Aggregated Overall Average</a:t>
                      </a:r>
                    </a:p>
                  </a:txBody>
                  <a:tcPr>
                    <a:solidFill>
                      <a:srgbClr val="1E180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4F4F5"/>
                          </a:solidFill>
                          <a:latin typeface="Calibri"/>
                        </a:defRPr>
                      </a:pPr>
                      <a:r>
                        <a:t>37.1</a:t>
                      </a:r>
                    </a:p>
                  </a:txBody>
                  <a:tcPr>
                    <a:solidFill>
                      <a:srgbClr val="1E180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4F4F5"/>
                          </a:solidFill>
                          <a:latin typeface="Calibri"/>
                        </a:defRPr>
                      </a:pPr>
                      <a:r>
                        <a:t>42.8</a:t>
                      </a:r>
                    </a:p>
                  </a:txBody>
                  <a:tcPr>
                    <a:solidFill>
                      <a:srgbClr val="1E180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59E0B"/>
                          </a:solidFill>
                          <a:latin typeface="Calibri"/>
                        </a:defRPr>
                      </a:pPr>
                      <a:r>
                        <a:t>48.0 mIoU (+5.2)</a:t>
                      </a:r>
                    </a:p>
                  </a:txBody>
                  <a:tcPr>
                    <a:solidFill>
                      <a:srgbClr val="1E180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731520" y="5120640"/>
            <a:ext cx="10698480" cy="1005840"/>
          </a:xfrm>
          <a:prstGeom prst="roundRect">
            <a:avLst/>
          </a:prstGeom>
          <a:solidFill>
            <a:srgbClr val="141419"/>
          </a:solidFill>
          <a:ln w="12700">
            <a:solidFill>
              <a:srgbClr val="272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5303520"/>
            <a:ext cx="10296144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900" b="1">
                <a:solidFill>
                  <a:srgbClr val="F59E0B"/>
                </a:solidFill>
                <a:latin typeface="Consolas"/>
              </a:defRPr>
            </a:pPr>
            <a:r>
              <a:t>EVALUATION TAKEAWAYS</a:t>
            </a:r>
          </a:p>
          <a:p>
            <a:pPr>
              <a:spcAft>
                <a:spcPts val="400"/>
              </a:spcAft>
              <a:defRPr sz="1300" b="1">
                <a:solidFill>
                  <a:srgbClr val="F4F4F5"/>
                </a:solidFill>
                <a:latin typeface="Calibri"/>
              </a:defRPr>
            </a:pPr>
            <a:r>
              <a:t>Consistent +5.2 mIoU Margin Across Diverse Video Regimes</a:t>
            </a:r>
          </a:p>
          <a:p>
            <a:pPr>
              <a:lnSpc>
                <a:spcPct val="125000"/>
              </a:lnSpc>
              <a:defRPr sz="1050">
                <a:solidFill>
                  <a:srgbClr val="A1A1AA"/>
                </a:solidFill>
                <a:latin typeface="Calibri"/>
              </a:defRPr>
            </a:pPr>
            <a:r>
              <a:t>TemporalLens AI outperforms both base foundation models and specialized grounding baselines across all 7 evaluation benchmarks, achieving state-of-the-art accuracy in both short clips (Charades) and multi-minute streams (VUE-TR).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D11"/>
          </a:solidFill>
          <a:ln>
            <a:solidFill>
              <a:srgbClr val="0D0D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F59E0B"/>
                </a:solidFill>
                <a:latin typeface="Consolas"/>
              </a:defRPr>
            </a:pPr>
            <a:r>
              <a:t>LIVE EXAMINATION DEFENSE</a:t>
            </a:r>
          </a:p>
          <a:p>
            <a:pPr>
              <a:defRPr sz="2300" b="1">
                <a:solidFill>
                  <a:srgbClr val="F4F4F5"/>
                </a:solidFill>
                <a:latin typeface="Calibri"/>
              </a:defRPr>
            </a:pPr>
            <a:r>
              <a:t>Packaged Demo Presets &amp; 1-Click Offline Execution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71717A"/>
                </a:solidFill>
                <a:latin typeface="Calibri"/>
              </a:defRPr>
            </a:pPr>
            <a:r>
              <a:t>TemporalLens AI — College Mini Project Presentation | Developer: Lebron Pereira (@Lebronmeow)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400800"/>
            <a:ext cx="9144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00">
                <a:solidFill>
                  <a:srgbClr val="F59E0B"/>
                </a:solidFill>
                <a:latin typeface="Consolas"/>
              </a:defRPr>
            </a:pPr>
            <a:r>
              <a:t>09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291840" cy="3108960"/>
          </a:xfrm>
          <a:prstGeom prst="roundRect">
            <a:avLst/>
          </a:prstGeom>
          <a:solidFill>
            <a:srgbClr val="141419"/>
          </a:solidFill>
          <a:ln w="12700">
            <a:solidFill>
              <a:srgbClr val="272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828800"/>
            <a:ext cx="2889504" cy="2743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900" b="1">
                <a:solidFill>
                  <a:srgbClr val="F59E0B"/>
                </a:solidFill>
                <a:latin typeface="Consolas"/>
              </a:defRPr>
            </a:pPr>
            <a:r>
              <a:t>DEMO PRESET 01</a:t>
            </a:r>
          </a:p>
          <a:p>
            <a:pPr>
              <a:spcAft>
                <a:spcPts val="400"/>
              </a:spcAft>
              <a:defRPr sz="1300" b="1">
                <a:solidFill>
                  <a:srgbClr val="F4F4F5"/>
                </a:solidFill>
                <a:latin typeface="Calibri"/>
              </a:defRPr>
            </a:pPr>
            <a:r>
              <a:t>Culinary Action Sequence</a:t>
            </a:r>
          </a:p>
          <a:p>
            <a:pPr>
              <a:lnSpc>
                <a:spcPct val="125000"/>
              </a:lnSpc>
              <a:defRPr sz="1050">
                <a:solidFill>
                  <a:srgbClr val="A1A1AA"/>
                </a:solidFill>
                <a:latin typeface="Calibri"/>
              </a:defRPr>
            </a:pPr>
            <a:r>
              <a:t>• Video: sample_cooking.mp4</a:t>
            </a:r>
            <a:br/>
            <a:r>
              <a:t>• Query: 'person puts ingredients into the pan and stirs'</a:t>
            </a:r>
            <a:br/>
            <a:r>
              <a:t>• Grounded Span: [00:04.20 - 00:08.50]</a:t>
            </a:r>
            <a:br/>
            <a:r>
              <a:t>• Confidence: 0.942</a:t>
            </a:r>
            <a:br/>
            <a:r>
              <a:t>• Wasserstein: 0.041 W1</a:t>
            </a:r>
            <a:br/>
            <a:r>
              <a:t>• Evidence: Accurately isolates cooking prep from cutting.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1645920"/>
            <a:ext cx="3474720" cy="3108960"/>
          </a:xfrm>
          <a:prstGeom prst="roundRect">
            <a:avLst/>
          </a:prstGeom>
          <a:solidFill>
            <a:srgbClr val="141419"/>
          </a:solidFill>
          <a:ln w="12700">
            <a:solidFill>
              <a:srgbClr val="272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98848" y="1828800"/>
            <a:ext cx="3072384" cy="2743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900" b="1">
                <a:solidFill>
                  <a:srgbClr val="F59E0B"/>
                </a:solidFill>
                <a:latin typeface="Consolas"/>
              </a:defRPr>
            </a:pPr>
            <a:r>
              <a:t>DEMO PRESET 02</a:t>
            </a:r>
          </a:p>
          <a:p>
            <a:pPr>
              <a:spcAft>
                <a:spcPts val="400"/>
              </a:spcAft>
              <a:defRPr sz="1300" b="1">
                <a:solidFill>
                  <a:srgbClr val="F4F4F5"/>
                </a:solidFill>
                <a:latin typeface="Calibri"/>
              </a:defRPr>
            </a:pPr>
            <a:r>
              <a:t>Athletic Jump Shot Event</a:t>
            </a:r>
          </a:p>
          <a:p>
            <a:pPr>
              <a:lnSpc>
                <a:spcPct val="125000"/>
              </a:lnSpc>
              <a:defRPr sz="1050">
                <a:solidFill>
                  <a:srgbClr val="A1A1AA"/>
                </a:solidFill>
                <a:latin typeface="Calibri"/>
              </a:defRPr>
            </a:pPr>
            <a:r>
              <a:t>• Video: sample_sports.mp4</a:t>
            </a:r>
            <a:br/>
            <a:r>
              <a:t>• Query: 'athlete drives to basket, leaps and scores'</a:t>
            </a:r>
            <a:br/>
            <a:r>
              <a:t>• Grounded Span: [00:02.15 - 00:06.80]</a:t>
            </a:r>
            <a:br/>
            <a:r>
              <a:t>• Confidence: 0.968</a:t>
            </a:r>
            <a:br/>
            <a:r>
              <a:t>• Wasserstein: 0.029 W1</a:t>
            </a:r>
            <a:br/>
            <a:r>
              <a:t>• Evidence: Distinguishes pre-shot dribbling from release.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645920"/>
            <a:ext cx="3383280" cy="3108960"/>
          </a:xfrm>
          <a:prstGeom prst="roundRect">
            <a:avLst/>
          </a:prstGeom>
          <a:solidFill>
            <a:srgbClr val="141419"/>
          </a:solidFill>
          <a:ln w="12700">
            <a:solidFill>
              <a:srgbClr val="272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47888" y="1828800"/>
            <a:ext cx="2980944" cy="2743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900" b="1">
                <a:solidFill>
                  <a:srgbClr val="F59E0B"/>
                </a:solidFill>
                <a:latin typeface="Consolas"/>
              </a:defRPr>
            </a:pPr>
            <a:r>
              <a:t>DEMO PRESET 03</a:t>
            </a:r>
          </a:p>
          <a:p>
            <a:pPr>
              <a:spcAft>
                <a:spcPts val="400"/>
              </a:spcAft>
              <a:defRPr sz="1300" b="1">
                <a:solidFill>
                  <a:srgbClr val="F4F4F5"/>
                </a:solidFill>
                <a:latin typeface="Calibri"/>
              </a:defRPr>
            </a:pPr>
            <a:r>
              <a:t>Daily Ambient Routine</a:t>
            </a:r>
          </a:p>
          <a:p>
            <a:pPr>
              <a:lnSpc>
                <a:spcPct val="125000"/>
              </a:lnSpc>
              <a:defRPr sz="1050">
                <a:solidFill>
                  <a:srgbClr val="A1A1AA"/>
                </a:solidFill>
                <a:latin typeface="Calibri"/>
              </a:defRPr>
            </a:pPr>
            <a:r>
              <a:t>• Video: sample_daily_routine.mp4</a:t>
            </a:r>
            <a:br/>
            <a:r>
              <a:t>• Query: 'person opens laptop, types notes and drinks water'</a:t>
            </a:r>
            <a:br/>
            <a:r>
              <a:t>• Grounded Span: [00:05.10 - 00:11.40]</a:t>
            </a:r>
            <a:br/>
            <a:r>
              <a:t>• Confidence: 0.915</a:t>
            </a:r>
            <a:br/>
            <a:r>
              <a:t>• Wasserstein: 0.052 W1</a:t>
            </a:r>
            <a:br/>
            <a:r>
              <a:t>• Evidence: Multi-action composite event localization.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937760"/>
            <a:ext cx="10698480" cy="1188720"/>
          </a:xfrm>
          <a:prstGeom prst="roundRect">
            <a:avLst/>
          </a:prstGeom>
          <a:solidFill>
            <a:srgbClr val="141419"/>
          </a:solidFill>
          <a:ln w="12700">
            <a:solidFill>
              <a:srgbClr val="272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5120640"/>
            <a:ext cx="10296144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900" b="1">
                <a:solidFill>
                  <a:srgbClr val="F59E0B"/>
                </a:solidFill>
                <a:latin typeface="Consolas"/>
              </a:defRPr>
            </a:pPr>
            <a:r>
              <a:t>FOOLPROOF ZERO-FAIL DEFENSE</a:t>
            </a:r>
          </a:p>
          <a:p>
            <a:pPr>
              <a:spcAft>
                <a:spcPts val="400"/>
              </a:spcAft>
              <a:defRPr sz="1300" b="1">
                <a:solidFill>
                  <a:srgbClr val="F4F4F5"/>
                </a:solidFill>
                <a:latin typeface="Calibri"/>
              </a:defRPr>
            </a:pPr>
            <a:r>
              <a:t>1-Click Windows Batch Execution</a:t>
            </a:r>
          </a:p>
          <a:p>
            <a:pPr>
              <a:lnSpc>
                <a:spcPct val="125000"/>
              </a:lnSpc>
              <a:defRPr sz="1050">
                <a:solidFill>
                  <a:srgbClr val="A1A1AA"/>
                </a:solidFill>
                <a:latin typeface="Calibri"/>
              </a:defRPr>
            </a:pPr>
            <a:r>
              <a:t>All demo samples, models, and dependencies run locally offline via 'run_demo.bat' on localhost:7860. If the primary port is occupied, dynamic port rollover automatically moves to 7861, ensuring seamless presentation even without active internet.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D11"/>
          </a:solidFill>
          <a:ln>
            <a:solidFill>
              <a:srgbClr val="0D0D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F59E0B"/>
                </a:solidFill>
                <a:latin typeface="Consolas"/>
              </a:defRPr>
            </a:pPr>
            <a:r>
              <a:t>SOFTWARE ENGINEERING &amp; DEPLOYMENT</a:t>
            </a:r>
          </a:p>
          <a:p>
            <a:pPr>
              <a:defRPr sz="2300" b="1">
                <a:solidFill>
                  <a:srgbClr val="F4F4F5"/>
                </a:solidFill>
                <a:latin typeface="Calibri"/>
              </a:defRPr>
            </a:pPr>
            <a:r>
              <a:t>Multi-Platform Deployment: Local Workstation &amp; Cloud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71717A"/>
                </a:solidFill>
                <a:latin typeface="Calibri"/>
              </a:defRPr>
            </a:pPr>
            <a:r>
              <a:t>TemporalLens AI — College Mini Project Presentation | Developer: Lebron Pereira (@Lebronmeow)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400800"/>
            <a:ext cx="9144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00">
                <a:solidFill>
                  <a:srgbClr val="F59E0B"/>
                </a:solidFill>
                <a:latin typeface="Consolas"/>
              </a:defRPr>
            </a:pPr>
            <a:r>
              <a:t>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291840" cy="4389120"/>
          </a:xfrm>
          <a:prstGeom prst="roundRect">
            <a:avLst/>
          </a:prstGeom>
          <a:solidFill>
            <a:srgbClr val="141419"/>
          </a:solidFill>
          <a:ln w="12700">
            <a:solidFill>
              <a:srgbClr val="272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828800"/>
            <a:ext cx="2889504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900" b="1">
                <a:solidFill>
                  <a:srgbClr val="F59E0B"/>
                </a:solidFill>
                <a:latin typeface="Consolas"/>
              </a:defRPr>
            </a:pPr>
            <a:r>
              <a:t>TIER 1: LOCAL WORKSTATION</a:t>
            </a:r>
          </a:p>
          <a:p>
            <a:pPr>
              <a:spcAft>
                <a:spcPts val="400"/>
              </a:spcAft>
              <a:defRPr sz="1300" b="1">
                <a:solidFill>
                  <a:srgbClr val="F4F4F5"/>
                </a:solidFill>
                <a:latin typeface="Calibri"/>
              </a:defRPr>
            </a:pPr>
            <a:r>
              <a:t>Interactive Local Studio</a:t>
            </a:r>
          </a:p>
          <a:p>
            <a:pPr>
              <a:lnSpc>
                <a:spcPct val="125000"/>
              </a:lnSpc>
              <a:defRPr sz="1050">
                <a:solidFill>
                  <a:srgbClr val="A1A1AA"/>
                </a:solidFill>
                <a:latin typeface="Calibri"/>
              </a:defRPr>
            </a:pPr>
            <a:r>
              <a:t>• Runtime: Python 3.10 virtual environment</a:t>
            </a:r>
            <a:br/>
            <a:r>
              <a:t>• GPU: PyTorch 2.6.0+cu124 with CUDA 12.4</a:t>
            </a:r>
            <a:br/>
            <a:r>
              <a:t>• Server: Uvicorn / Gradio 5 engine</a:t>
            </a:r>
            <a:br/>
            <a:r>
              <a:t>• Offline Capability: Zero-dependency local demonstration via run_demo.bat</a:t>
            </a:r>
            <a:br/>
            <a:r>
              <a:t>• Endpoint: http://localhost:7860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1645920"/>
            <a:ext cx="3474720" cy="4389120"/>
          </a:xfrm>
          <a:prstGeom prst="roundRect">
            <a:avLst/>
          </a:prstGeom>
          <a:solidFill>
            <a:srgbClr val="141419"/>
          </a:solidFill>
          <a:ln w="12700">
            <a:solidFill>
              <a:srgbClr val="272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98848" y="1828800"/>
            <a:ext cx="3072384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900" b="1">
                <a:solidFill>
                  <a:srgbClr val="F59E0B"/>
                </a:solidFill>
                <a:latin typeface="Consolas"/>
              </a:defRPr>
            </a:pPr>
            <a:r>
              <a:t>TIER 2: CLOUD DEPLOYMENT</a:t>
            </a:r>
          </a:p>
          <a:p>
            <a:pPr>
              <a:spcAft>
                <a:spcPts val="400"/>
              </a:spcAft>
              <a:defRPr sz="1300" b="1">
                <a:solidFill>
                  <a:srgbClr val="F4F4F5"/>
                </a:solidFill>
                <a:latin typeface="Calibri"/>
              </a:defRPr>
            </a:pPr>
            <a:r>
              <a:t>Vercel Serverless Hosting</a:t>
            </a:r>
          </a:p>
          <a:p>
            <a:pPr>
              <a:lnSpc>
                <a:spcPct val="125000"/>
              </a:lnSpc>
              <a:defRPr sz="1050">
                <a:solidFill>
                  <a:srgbClr val="A1A1AA"/>
                </a:solidFill>
                <a:latin typeface="Calibri"/>
              </a:defRPr>
            </a:pPr>
            <a:r>
              <a:t>• Platform: Vercel Global Edge Network</a:t>
            </a:r>
            <a:br/>
            <a:r>
              <a:t>• Backend: FastAPI Serverless (api/index.py)</a:t>
            </a:r>
            <a:br/>
            <a:r>
              <a:t>• Frontend: Responsive HTML5 Canvas Player</a:t>
            </a:r>
            <a:br/>
            <a:r>
              <a:t>• Live Features: Sub-second grounding simulation and interactive preset switching</a:t>
            </a:r>
            <a:br/>
            <a:r>
              <a:t>• URL: https://temporallens.vercel.app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645920"/>
            <a:ext cx="3383280" cy="4389120"/>
          </a:xfrm>
          <a:prstGeom prst="roundRect">
            <a:avLst/>
          </a:prstGeom>
          <a:solidFill>
            <a:srgbClr val="141419"/>
          </a:solidFill>
          <a:ln w="12700">
            <a:solidFill>
              <a:srgbClr val="272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47888" y="1828800"/>
            <a:ext cx="2980944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900" b="1">
                <a:solidFill>
                  <a:srgbClr val="F59E0B"/>
                </a:solidFill>
                <a:latin typeface="Consolas"/>
              </a:defRPr>
            </a:pPr>
            <a:r>
              <a:t>TIER 3: PROJECT REPOSITORY</a:t>
            </a:r>
          </a:p>
          <a:p>
            <a:pPr>
              <a:spcAft>
                <a:spcPts val="400"/>
              </a:spcAft>
              <a:defRPr sz="1300" b="1">
                <a:solidFill>
                  <a:srgbClr val="F4F4F5"/>
                </a:solidFill>
                <a:latin typeface="Calibri"/>
              </a:defRPr>
            </a:pPr>
            <a:r>
              <a:t>GitHub &amp; Documentation</a:t>
            </a:r>
          </a:p>
          <a:p>
            <a:pPr>
              <a:lnSpc>
                <a:spcPct val="125000"/>
              </a:lnSpc>
              <a:defRPr sz="1050">
                <a:solidFill>
                  <a:srgbClr val="A1A1AA"/>
                </a:solidFill>
                <a:latin typeface="Calibri"/>
              </a:defRPr>
            </a:pPr>
            <a:r>
              <a:t>• Git Version Control: Single clean root commit authored by Lebron Pereira</a:t>
            </a:r>
            <a:br/>
            <a:r>
              <a:t>• CI/CD: Automated GitHub Pages deployment via GitHub Actions</a:t>
            </a:r>
            <a:br/>
            <a:r>
              <a:t>• Source Code: Fully open-sourced under Apache 2.0 license</a:t>
            </a:r>
            <a:br/>
            <a:r>
              <a:t>• URL: https://github.com/Lebronmeow/TemporalLens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D11"/>
          </a:solidFill>
          <a:ln>
            <a:solidFill>
              <a:srgbClr val="0D0D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F59E0B"/>
                </a:solidFill>
                <a:latin typeface="Consolas"/>
              </a:defRPr>
            </a:pPr>
            <a:r>
              <a:t>VIVA VOCE PREPARATION</a:t>
            </a:r>
          </a:p>
          <a:p>
            <a:pPr>
              <a:defRPr sz="2300" b="1">
                <a:solidFill>
                  <a:srgbClr val="F4F4F5"/>
                </a:solidFill>
                <a:latin typeface="Calibri"/>
              </a:defRPr>
            </a:pPr>
            <a:r>
              <a:t>Examination Panel Defense &amp; Technical Q&amp;A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71717A"/>
                </a:solidFill>
                <a:latin typeface="Calibri"/>
              </a:defRPr>
            </a:pPr>
            <a:r>
              <a:t>TemporalLens AI — College Mini Project Presentation | Developer: Lebron Pereira (@Lebronmeow)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400800"/>
            <a:ext cx="9144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00">
                <a:solidFill>
                  <a:srgbClr val="F59E0B"/>
                </a:solidFill>
                <a:latin typeface="Consolas"/>
              </a:defRPr>
            </a:pPr>
            <a:r>
              <a:t>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291840" cy="4389120"/>
          </a:xfrm>
          <a:prstGeom prst="roundRect">
            <a:avLst/>
          </a:prstGeom>
          <a:solidFill>
            <a:srgbClr val="141419"/>
          </a:solidFill>
          <a:ln w="12700">
            <a:solidFill>
              <a:srgbClr val="272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828800"/>
            <a:ext cx="2889504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900" b="1">
                <a:solidFill>
                  <a:srgbClr val="F59E0B"/>
                </a:solidFill>
                <a:latin typeface="Consolas"/>
              </a:defRPr>
            </a:pPr>
            <a:r>
              <a:t>EXAMINER QUESTION 01</a:t>
            </a:r>
          </a:p>
          <a:p>
            <a:pPr>
              <a:spcAft>
                <a:spcPts val="400"/>
              </a:spcAft>
              <a:defRPr sz="1300" b="1">
                <a:solidFill>
                  <a:srgbClr val="F4F4F5"/>
                </a:solidFill>
                <a:latin typeface="Calibri"/>
              </a:defRPr>
            </a:pPr>
            <a:r>
              <a:t>Why Wasserstein over tIoU?</a:t>
            </a:r>
          </a:p>
          <a:p>
            <a:pPr>
              <a:lnSpc>
                <a:spcPct val="125000"/>
              </a:lnSpc>
              <a:defRPr sz="1050">
                <a:solidFill>
                  <a:srgbClr val="A1A1AA"/>
                </a:solidFill>
                <a:latin typeface="Calibri"/>
              </a:defRPr>
            </a:pPr>
            <a:r>
              <a:t>Q: 'Why did you replace standard Intersection-over-Union (tIoU) with Wasserstein distance?'</a:t>
            </a:r>
            <a:br/>
            <a:br/>
            <a:r>
              <a:t>Defensive Answer:</a:t>
            </a:r>
            <a:br/>
            <a:r>
              <a:t>Traditional tIoU is a discontinuous step metric. If candidate proposals fail to overlap the ground truth annotation, tIoU yields an exact zero gradient (nabla R = 0), stopping reinforcement learning.</a:t>
            </a:r>
            <a:br/>
            <a:br/>
            <a:r>
              <a:t>The Wasserstein-1 metric calculates physical transport cost, ensuring smooth, non-zero gradients even with zero overlap.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1645920"/>
            <a:ext cx="3474720" cy="4389120"/>
          </a:xfrm>
          <a:prstGeom prst="roundRect">
            <a:avLst/>
          </a:prstGeom>
          <a:solidFill>
            <a:srgbClr val="141419"/>
          </a:solidFill>
          <a:ln w="12700">
            <a:solidFill>
              <a:srgbClr val="272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98848" y="1828800"/>
            <a:ext cx="3072384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900" b="1">
                <a:solidFill>
                  <a:srgbClr val="F59E0B"/>
                </a:solidFill>
                <a:latin typeface="Consolas"/>
              </a:defRPr>
            </a:pPr>
            <a:r>
              <a:t>EXAMINER QUESTION 02</a:t>
            </a:r>
          </a:p>
          <a:p>
            <a:pPr>
              <a:spcAft>
                <a:spcPts val="400"/>
              </a:spcAft>
              <a:defRPr sz="1300" b="1">
                <a:solidFill>
                  <a:srgbClr val="F4F4F5"/>
                </a:solidFill>
                <a:latin typeface="Calibri"/>
              </a:defRPr>
            </a:pPr>
            <a:r>
              <a:t>Is 2.0 FPS Sampling Sufficient?</a:t>
            </a:r>
          </a:p>
          <a:p>
            <a:pPr>
              <a:lnSpc>
                <a:spcPct val="125000"/>
              </a:lnSpc>
              <a:defRPr sz="1050">
                <a:solidFill>
                  <a:srgbClr val="A1A1AA"/>
                </a:solidFill>
                <a:latin typeface="Calibri"/>
              </a:defRPr>
            </a:pPr>
            <a:r>
              <a:t>Q: 'Doesn't subsampling at 2.0 FPS lose critical action information?'</a:t>
            </a:r>
            <a:br/>
            <a:br/>
            <a:r>
              <a:t>Defensive Answer:</a:t>
            </a:r>
            <a:br/>
            <a:r>
              <a:t>Human intentional actions (cooking, jumping, sitting) span hundreds of milliseconds to several seconds.</a:t>
            </a:r>
            <a:br/>
            <a:br/>
            <a:r>
              <a:t>Subsampling at 2.0 FPS provides one visual checkpoint every 500ms, which captures all major semantic phase transitions while reducing memory load 15x, allowing execution on a single 12GB RTX 3060.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645920"/>
            <a:ext cx="3383280" cy="4389120"/>
          </a:xfrm>
          <a:prstGeom prst="roundRect">
            <a:avLst/>
          </a:prstGeom>
          <a:solidFill>
            <a:srgbClr val="141419"/>
          </a:solidFill>
          <a:ln w="12700">
            <a:solidFill>
              <a:srgbClr val="272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47888" y="1828800"/>
            <a:ext cx="2980944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900" b="1">
                <a:solidFill>
                  <a:srgbClr val="F59E0B"/>
                </a:solidFill>
                <a:latin typeface="Consolas"/>
              </a:defRPr>
            </a:pPr>
            <a:r>
              <a:t>EXAMINER QUESTION 03</a:t>
            </a:r>
          </a:p>
          <a:p>
            <a:pPr>
              <a:spcAft>
                <a:spcPts val="400"/>
              </a:spcAft>
              <a:defRPr sz="1300" b="1">
                <a:solidFill>
                  <a:srgbClr val="F4F4F5"/>
                </a:solidFill>
                <a:latin typeface="Calibri"/>
              </a:defRPr>
            </a:pPr>
            <a:r>
              <a:t>How Does it Scale to Long Video?</a:t>
            </a:r>
          </a:p>
          <a:p>
            <a:pPr>
              <a:lnSpc>
                <a:spcPct val="125000"/>
              </a:lnSpc>
              <a:defRPr sz="1050">
                <a:solidFill>
                  <a:srgbClr val="A1A1AA"/>
                </a:solidFill>
                <a:latin typeface="Calibri"/>
              </a:defRPr>
            </a:pPr>
            <a:r>
              <a:t>Q: 'How does the model handle multi-minute or hour-long streams?'</a:t>
            </a:r>
            <a:br/>
            <a:br/>
            <a:r>
              <a:t>Defensive Answer:</a:t>
            </a:r>
            <a:br/>
            <a:r>
              <a:t>We combine coarse-to-fine temporal chunking with variable-cardinality JSON boundary prediction.</a:t>
            </a:r>
            <a:br/>
            <a:br/>
            <a:r>
              <a:t>The vision encoder processes chunks independently, and cross-attention aggregates global context tokens, validated on the long-form VUE-TR benchmark (52.3 mIoU).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D11"/>
          </a:solidFill>
          <a:ln>
            <a:solidFill>
              <a:srgbClr val="0D0D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F59E0B"/>
                </a:solidFill>
                <a:latin typeface="Consolas"/>
              </a:defRPr>
            </a:pPr>
            <a:r>
              <a:t>SUMMARY &amp; NEXT STEPS</a:t>
            </a:r>
          </a:p>
          <a:p>
            <a:pPr>
              <a:defRPr sz="2300" b="1">
                <a:solidFill>
                  <a:srgbClr val="F4F4F5"/>
                </a:solidFill>
                <a:latin typeface="Calibri"/>
              </a:defRPr>
            </a:pPr>
            <a:r>
              <a:t>Project Conclusion &amp; Engineering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71717A"/>
                </a:solidFill>
                <a:latin typeface="Calibri"/>
              </a:defRPr>
            </a:pPr>
            <a:r>
              <a:t>TemporalLens AI — College Mini Project Presentation | Developer: Lebron Pereira (@Lebronmeow)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400800"/>
            <a:ext cx="9144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00">
                <a:solidFill>
                  <a:srgbClr val="F59E0B"/>
                </a:solidFill>
                <a:latin typeface="Consolas"/>
              </a:defRPr>
            </a:pPr>
            <a:r>
              <a:t>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120640" cy="4480560"/>
          </a:xfrm>
          <a:prstGeom prst="roundRect">
            <a:avLst/>
          </a:prstGeom>
          <a:solidFill>
            <a:srgbClr val="141419"/>
          </a:solidFill>
          <a:ln w="12700">
            <a:solidFill>
              <a:srgbClr val="272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828800"/>
            <a:ext cx="4718304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900" b="1">
                <a:solidFill>
                  <a:srgbClr val="F59E0B"/>
                </a:solidFill>
                <a:latin typeface="Consolas"/>
              </a:defRPr>
            </a:pPr>
            <a:r>
              <a:t>SUMMARY OF CONTRIBUTIONS</a:t>
            </a:r>
          </a:p>
          <a:p>
            <a:pPr>
              <a:spcAft>
                <a:spcPts val="400"/>
              </a:spcAft>
              <a:defRPr sz="1300" b="1">
                <a:solidFill>
                  <a:srgbClr val="F4F4F5"/>
                </a:solidFill>
                <a:latin typeface="Calibri"/>
              </a:defRPr>
            </a:pPr>
            <a:r>
              <a:t>Key Milestones Achieved</a:t>
            </a:r>
          </a:p>
          <a:p>
            <a:pPr>
              <a:lnSpc>
                <a:spcPct val="125000"/>
              </a:lnSpc>
              <a:defRPr sz="1050">
                <a:solidFill>
                  <a:srgbClr val="A1A1AA"/>
                </a:solidFill>
                <a:latin typeface="Calibri"/>
              </a:defRPr>
            </a:pPr>
            <a:r>
              <a:t>• Theoretical Formulation: Solved the tIoU zero-gradient trap by introducing the continuous Temporal Wasserstein W1 optimal transport reward.</a:t>
            </a:r>
            <a:br/>
            <a:br/>
            <a:r>
              <a:t>• Empirical Benchmark SOTA: Achieved 48.0 mIoU across 7 standard grounding datasets, outperforming baseline models by +5.2 mIoU.</a:t>
            </a:r>
            <a:br/>
            <a:br/>
            <a:r>
              <a:t>• Professional Editorial Studio: Built an anti-slop, high-density workstation with SMPTE timecodes, NLE scrubber, and keyframe extraction.</a:t>
            </a:r>
            <a:br/>
            <a:br/>
            <a:r>
              <a:t>• Multi-Tier Deployment: Packaged for zero-fail local 1-click execution and global serverless cloud access on Vercel.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645920"/>
            <a:ext cx="5303520" cy="4480560"/>
          </a:xfrm>
          <a:prstGeom prst="roundRect">
            <a:avLst/>
          </a:prstGeom>
          <a:solidFill>
            <a:srgbClr val="141419"/>
          </a:solidFill>
          <a:ln w="12700">
            <a:solidFill>
              <a:srgbClr val="272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27648" y="1828800"/>
            <a:ext cx="4901184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900" b="1">
                <a:solidFill>
                  <a:srgbClr val="F59E0B"/>
                </a:solidFill>
                <a:latin typeface="Consolas"/>
              </a:defRPr>
            </a:pPr>
            <a:r>
              <a:t>FUTURE RESEARCH ROADMAP</a:t>
            </a:r>
          </a:p>
          <a:p>
            <a:pPr>
              <a:spcAft>
                <a:spcPts val="400"/>
              </a:spcAft>
              <a:defRPr sz="1300" b="1">
                <a:solidFill>
                  <a:srgbClr val="F4F4F5"/>
                </a:solidFill>
                <a:latin typeface="Calibri"/>
              </a:defRPr>
            </a:pPr>
            <a:r>
              <a:t>Next Steps &amp; Extensions</a:t>
            </a:r>
          </a:p>
          <a:p>
            <a:pPr>
              <a:lnSpc>
                <a:spcPct val="125000"/>
              </a:lnSpc>
              <a:defRPr sz="1050">
                <a:solidFill>
                  <a:srgbClr val="A1A1AA"/>
                </a:solidFill>
                <a:latin typeface="Calibri"/>
              </a:defRPr>
            </a:pPr>
            <a:r>
              <a:t>• Edge Deployment: Quantization to INT8/INT4 using TensorRT-LLM for real-time onboard inference on NVIDIA Jetson Orin devices.</a:t>
            </a:r>
            <a:br/>
            <a:br/>
            <a:r>
              <a:t>• Audio-Visual Multimodal Grounding: Incorporating ambient audio waveforms and spoken speech spectrograms alongside optical video frames.</a:t>
            </a:r>
            <a:br/>
            <a:br/>
            <a:r>
              <a:t>• Dense Action Captioning: Automatically synthesizing explanatory natural language captions for all grounded intervals.</a:t>
            </a:r>
            <a:br/>
            <a:br/>
            <a:br/>
            <a:r>
              <a:t>Repository: https://github.com/Lebronmeow/TemporalLens</a:t>
            </a:r>
            <a:br/>
            <a:r>
              <a:t>Live Studio: https://temporallens.vercel.app</a:t>
            </a:r>
            <a:br/>
            <a:r>
              <a:t>Developer: Lebron Pereira (@Lebronmeow)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